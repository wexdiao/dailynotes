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hyperlink" Target="https://www.ndbc.noaa.gov/download_data.php?filename=46028h2025.txt.gz&amp;dir=data/historical/stdmet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7315200" cy="7315200"/>
          </a:xfrm>
          <a:prstGeom prst="ellipse">
            <a:avLst/>
          </a:prstGeom>
          <a:solidFill>
            <a:srgbClr val="CFE6F7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418320" y="457200"/>
            <a:ext cx="5486400" cy="5486400"/>
          </a:xfrm>
          <a:prstGeom prst="ellipse">
            <a:avLst/>
          </a:prstGeom>
          <a:solidFill>
            <a:srgbClr val="BFE4EE">
              <a:alpha val="5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25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PROGRESS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Power Cables for Floating Offshore Wind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2E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an XGBoost regression on real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cable papers in depth, and an initial machine-learning regression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389120"/>
            <a:ext cx="2926080" cy="0"/>
          </a:xfrm>
          <a:prstGeom prst="line">
            <a:avLst/>
          </a:prstGeom>
          <a:noFill/>
          <a:ln w="25400">
            <a:solidFill>
              <a:srgbClr val="2FA6A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4526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Seminar  ·  2026-07-09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PROGRESS SINCE THE LAST SEMINAR (JUN 5)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parts: three cable papers, and a first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DCEAF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554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 </a:t>
            </a:r>
            <a:pPr indent="0" marL="0">
              <a:buNone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paper (B-1) was presented last time. This report covers three cable papers in more depth, plus an initial predictive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172200" y="233172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2C6FA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26334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· Ocean Engineering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054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cable papers, each on two slides (summary + reflection)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6118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B-9 Beier — the fatigue-analysis method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B-4 Zhao — cable configuration (lazy vs double wave)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B-3 Janocha — reference cable models + workflow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the method, shape and inputs to build an OrcaFlex fatigue study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606040"/>
            <a:ext cx="548640" cy="548640"/>
          </a:xfrm>
          <a:prstGeom prst="ellipse">
            <a:avLst/>
          </a:prstGeom>
          <a:solidFill>
            <a:srgbClr val="2FA6A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465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2320" y="2633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· Machine-learning practice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0" y="3054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regression on real wind–wave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6118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predictive model after the EDA step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buoy data from a California wind-energy area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work so far: data cleaning and algorithm setup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workflow can later use OrcaFlex fatigue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OCEAN 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papers combine into one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57400"/>
            <a:ext cx="960120" cy="960120"/>
          </a:xfrm>
          <a:prstGeom prst="ellipse">
            <a:avLst/>
          </a:prstGeom>
          <a:solidFill>
            <a:srgbClr val="2E8FB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57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41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Beier et al. (2023)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compute fatigue — a 4-step workflow, no UFLEX required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42232" y="3063240"/>
            <a:ext cx="521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645152" y="17830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965192" y="2057400"/>
            <a:ext cx="960120" cy="960120"/>
          </a:xfrm>
          <a:prstGeom prst="ellipse">
            <a:avLst/>
          </a:prstGeom>
          <a:solidFill>
            <a:srgbClr val="2FA6A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65192" y="2057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65192" y="3154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41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Zhao et al. (2021)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65192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cable shape — lazy-wave vs double-wave, copper strain-life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47304" y="3063240"/>
            <a:ext cx="521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650224" y="17830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70264" y="2057400"/>
            <a:ext cx="960120" cy="960120"/>
          </a:xfrm>
          <a:prstGeom prst="ellipse">
            <a:avLst/>
          </a:prstGeom>
          <a:solidFill>
            <a:srgbClr val="2C6FA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70264" y="2057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70264" y="3154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6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CABLE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0264" y="3474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41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Janocha et al. (2024)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70264" y="3977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cable design — open 33/66/132 kV models + UFLEX→OrcaFlex flow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F5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configuration + reference cable  =  </a:t>
            </a:r>
            <a:pPr indent="0" marL="0">
              <a:buNone/>
            </a:pPr>
            <a:r>
              <a:rPr lang="en-US" sz="1600" i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 and procedure to build an OrcaFlex fatigue model, then apply machine learning to it.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· BEIER ET AL. (2023) · JMSE · B-9   —   CONTENT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B-9 · Fatigue analysis — what the paper does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6235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1148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 life of a suspended inter-array cable between two FOWTs — without needing UFLEX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&amp;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1260 m cable, 3 buoyancy modules; North Sea, 320 m depth; OC3-Hywind 5 MW; ~25 sea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&amp;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OrcaFlex (global) + a simplified stress-factor method; rainflow + Miner (steel S-N)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OrcaFlex → T, C; σ = Kt·T + Kc·C; rainflow → Miner → life; compared vs UFLEX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life ≈ 70,000 yr; bending dominates; hot spots at hang-off &amp; buoys; copper fails first; Kc up to +218% conservative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nice-funny-rubin/mnt/0709/figures/lit/b9_set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965960"/>
            <a:ext cx="4892040" cy="3246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5349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a suspended inter-array cable between two floating wind turbines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3796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Beier et al. (2023), JMSE 11(6):1254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· BEIER ET AL. (2023) · B-9   —   REFLECTION &amp; IMPLICATIONS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B-9 · What it means for the research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6235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1148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complete, reproducible fatigue workflow that needs no UFLEX (not available in our lab)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 is conservative — up to +218% under bending — so predicted life is over-safe / over-designed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linear σ = Kt·T + Kc·C ignores wire stick-slip non-linearity → bias under large loads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my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validated 4-step procedure and a reference setup to reproduce directly in OrcaFlex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next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+218% conservatism is a concrete target for an ML correction (load → true stress)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nice-funny-rubin/mnt/0709/figures/lit/b9_conser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965960"/>
            <a:ext cx="4892040" cy="3246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5349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12 — the simplified stress factors overshoot UFLEX under curvature (the +218% gap)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3796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Beier et al. (2023), JMSE 11(6):1254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ZHAO ET AL. (2021) · AIP ADVANCES · B-4   —   CONTENT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B-4 · Cable configuration — what the paper does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6235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1148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lazy-wave vs double-wave configurations for a shallow-water FOWT export 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&amp;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water (below 50 m); dynamic export (umbilical) 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&amp;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Fully-coupled aero-hydro-servo-elastic model in SIMO/RIFLEX; copper strain-life (Coffin–Manson)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Parametrise the double-wave; static → dynamic (T, C) → fatigue; compare the two configs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Bending moment dominates fatigue; the double-wave outperforms the lazy-wave; its second arc is critical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nice-funny-rubin/mnt/0709/figures/lit/b4_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965960"/>
            <a:ext cx="4892040" cy="3246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5349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the two configurations: (a) lazy-wave and (b) double-wave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3796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Zhao et al. (2021), AIP Advances 11, 035302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ZHAO ET AL. (2021) · B-4   —   REFLECTION &amp; IMPLICATIONS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B-4 · What it means for the research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6235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1148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Introduces the double-wave + a fully-coupled comparison; locates the critical spot (second arc)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are specific to shallow water and one floater type; not yet generalised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material sets the method — copper uses strain-life (Coffin–Manson), steel uses S-N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my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 configuration dimension + copper-vs-steel labelling for a future surrogate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next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and material become extra inputs in the load-case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nice-funny-rubin/mnt/0709/figures/lit/b4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965960"/>
            <a:ext cx="4892040" cy="3246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5349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6(d) — TDP curvature: the double-wave is ≤ the lazy-wave across load cases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3796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Zhao et al. (2021), AIP Advances 11, 035302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· JANOCHA ET AL. (2024) · SUSTAINABILITY · B-3   —   CONTENT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B-3 · Reference cable models — what the paper does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6235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1148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three open baseline cable designs (33/66/132 kV) with a full property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&amp;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OC3 5 MW spar, lazy-wave; static, dynamic (extreme) and simplified fatigue analyses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&amp;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UFLEX v2.8.9 (local cross-section) → OrcaFlex v11.3a (coupled global response)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3 cross-sections → UFLEX stiffness database → OrcaFlex response; with vs without 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barely affects FOWT motion; the design sustains representative loads; lazy-wave performs well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nice-funny-rubin/mnt/0709/figures/lit/b3_xs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965960"/>
            <a:ext cx="4892040" cy="3246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5349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a dynamic power cable's layer composition (labelled)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3796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Janocha et al. (2024), Sustainability 16, 2899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· JANOCHA ET AL. (2024) · B-3   —   REFLECTION &amp; IMPLICATIONS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B-3 · What it means for the research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6235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41148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Ready-made, standardised, reproducible reference cables — a shared baseline for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 simplified fatigue check and a single lazy-wave layout; local fatigue not resolved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public baseline was missing; now different studies can be compared on the same cable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my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cable parameters + the exact UFLEX→OrcaFlex recipe to follow in-house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next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 reproducible in OrcaFlex v11.3a with the OC3 5 MW turbine (our tools)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73736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6" name="Image 0" descr="/sessions/nice-funny-rubin/mnt/0709/figures/lit/b3_th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965960"/>
            <a:ext cx="4892040" cy="3246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5349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the three open reference cables: 33 / 66 / 132 kV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3796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Janocha et al. (2024), Sustainability 16, 2899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MACHINE-LEARNING PRACTICE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&amp; wave data at a California wind-energy area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predictive model after EDA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what predicts wave height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DATA-BUOY LOCATION</a:t>
            </a:r>
            <a:endParaRPr lang="en-US" sz="1200" dirty="0"/>
          </a:p>
        </p:txBody>
      </p:sp>
      <p:pic>
        <p:nvPicPr>
          <p:cNvPr id="8" name="Image 0" descr="/sessions/nice-funny-rubin/mnt/0709/figures/lit/location_460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3520440"/>
            <a:ext cx="320040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43400" y="182880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(real, public)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0" y="237744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NDBC buoy 46028 · Cape San Martin — 55 NM WNW of Morro Bay, CA  (35.77°N, 121.89°W); a California floating-wind lease area</a:t>
            </a:r>
            <a:endParaRPr lang="en-US" sz="1350" dirty="0"/>
          </a:p>
          <a:p>
            <a:pPr indent="0" marL="0">
              <a:lnSpc>
                <a:spcPts val="17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F5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99/999 marked as missing → 104k rows reduced to 34k usable</a:t>
            </a:r>
            <a:endParaRPr lang="en-US" sz="13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wind speed, gust, direction, pressure, month</a:t>
            </a:r>
            <a:endParaRPr lang="en-US" sz="13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wave height Hs (m)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046720" y="182880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7532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75320" y="2395728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DCEAF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85048" y="23957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merge two years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75320" y="28529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75320" y="3054096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DCEAF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385048" y="3054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(75 / 25)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75320" y="35112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75320" y="3712464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DCEAF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385048" y="371246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(4-fold) to tune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75320" y="41696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275320" y="4370832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DCEAF7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385048" y="43708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75320" y="4828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75320" y="5029200"/>
            <a:ext cx="3017520" cy="475488"/>
          </a:xfrm>
          <a:prstGeom prst="roundRect">
            <a:avLst>
              <a:gd name="adj" fmla="val 11538"/>
            </a:avLst>
          </a:prstGeom>
          <a:solidFill>
            <a:srgbClr val="DCEAF7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385048" y="5029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(R², RMSE) + explain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preliminary / exploratory — main effort so far: data cleaning and setting up the algorithm.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40080" y="62636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(NDBC): </a:t>
            </a:r>
            <a:pPr indent="0" marL="0">
              <a:buNone/>
            </a:pPr>
            <a:r>
              <a:rPr lang="en-US" sz="950" u="sng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https://www.ndbc.noaa.gov/download_data.php?filename=46028h2025.txt.gz&amp;dir=data/historical/stdmet/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CODE WALKTHROUGH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XGBoost workflow,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32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875">
            <a:solidFill>
              <a:srgbClr val="2C6FAF"/>
            </a:solidFill>
            <a:prstDash val="solid"/>
          </a:ln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865376"/>
            <a:ext cx="310896" cy="310896"/>
          </a:xfrm>
          <a:prstGeom prst="ellipse">
            <a:avLst/>
          </a:prstGeom>
          <a:solidFill>
            <a:srgbClr val="2C6FA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783080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2 NDBC files (2024 + 2025)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68980" y="22311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04872"/>
            <a:ext cx="5532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875">
            <a:solidFill>
              <a:srgbClr val="2C6FAF"/>
            </a:solidFill>
            <a:prstDash val="solid"/>
          </a:ln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2487168"/>
            <a:ext cx="310896" cy="310896"/>
          </a:xfrm>
          <a:prstGeom prst="ellipse">
            <a:avLst/>
          </a:prstGeom>
          <a:solidFill>
            <a:srgbClr val="2C6FA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404872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Clean: 99 / 999 → missing · merge · drop rows → 34k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8980" y="28529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5532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875">
            <a:solidFill>
              <a:srgbClr val="2E8FB0"/>
            </a:solidFill>
            <a:prstDash val="solid"/>
          </a:ln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108960"/>
            <a:ext cx="310896" cy="310896"/>
          </a:xfrm>
          <a:prstGeom prst="ellipse">
            <a:avLst/>
          </a:prstGeom>
          <a:solidFill>
            <a:srgbClr val="2E8FB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026664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X = wind, gust, dir, pressure, month  ·  y = Hs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68980" y="3474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48456"/>
            <a:ext cx="5532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875">
            <a:solidFill>
              <a:srgbClr val="2E8FB0"/>
            </a:solidFill>
            <a:prstDash val="solid"/>
          </a:ln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730752"/>
            <a:ext cx="310896" cy="310896"/>
          </a:xfrm>
          <a:prstGeom prst="ellipse">
            <a:avLst/>
          </a:prstGeom>
          <a:solidFill>
            <a:srgbClr val="2E8FB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648456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 (75 / 25)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8980" y="40965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70248"/>
            <a:ext cx="5532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875">
            <a:solidFill>
              <a:srgbClr val="2FA6A0"/>
            </a:solidFill>
            <a:prstDash val="solid"/>
          </a:ln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4352544"/>
            <a:ext cx="310896" cy="310896"/>
          </a:xfrm>
          <a:prstGeom prst="ellipse">
            <a:avLst/>
          </a:prstGeom>
          <a:solidFill>
            <a:srgbClr val="2FA6A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3152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270248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(4-fold) → best hyper-parameters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68980" y="47183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5532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875">
            <a:solidFill>
              <a:srgbClr val="2FA6A0"/>
            </a:solidFill>
            <a:prstDash val="solid"/>
          </a:ln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31520" y="4974336"/>
            <a:ext cx="310896" cy="310896"/>
          </a:xfrm>
          <a:prstGeom prst="ellipse">
            <a:avLst/>
          </a:prstGeom>
          <a:solidFill>
            <a:srgbClr val="2FA6A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152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70432" y="4892040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XGBoost → predict on the test set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68980" y="53400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513832"/>
            <a:ext cx="5532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5875">
            <a:solidFill>
              <a:srgbClr val="C77F1A"/>
            </a:solidFill>
            <a:prstDash val="solid"/>
          </a:ln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31520" y="5596128"/>
            <a:ext cx="310896" cy="310896"/>
          </a:xfrm>
          <a:prstGeom prst="ellipse">
            <a:avLst/>
          </a:prstGeom>
          <a:solidFill>
            <a:srgbClr val="C77F1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31520" y="5596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70432" y="5513832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R², RMSE  +  parity / importance / PDP plots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1783080"/>
            <a:ext cx="521208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8368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5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pd.read_csv(f, na_values=[99,999,9999])</a:t>
            </a:r>
            <a:endParaRPr lang="en-US" sz="115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mark 99 / 999 as missing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5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df.dropna(subset=FEATURES+[TARGET])</a:t>
            </a:r>
            <a:endParaRPr lang="en-US" sz="115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drop rows that have any gap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5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test_size=0.25)</a:t>
            </a:r>
            <a:endParaRPr lang="en-US" sz="115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hold out 25% as the exam set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5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GridSearchCV(XGBRegressor(), grid, cv=4)</a:t>
            </a:r>
            <a:endParaRPr lang="en-US" sz="1150" dirty="0"/>
          </a:p>
          <a:p>
            <a:pPr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auto-tune hyper-params by 4-fold CV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5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r2_score(y_te, model.predict(X_te))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score on data the model never saw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workflow is reused unchanged when the target later becomes OrcaFlex fatigue damage.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RESULT (1/2) — ACCURACY AND DRIVERS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 — R² ≈ 0.66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5" name="Image 0" descr="/sessions/nice-funny-rubin/mnt/0709/figures/ww_01_pa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920240"/>
            <a:ext cx="48920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7" name="Image 1" descr="/sessions/nice-funny-rubin/mnt/0709/figures/ww_02_import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965960"/>
            <a:ext cx="489204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0" y="5029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it:  </a:t>
            </a:r>
            <a:pPr indent="0" marL="0">
              <a:buNone/>
            </a:pPr>
            <a:r>
              <a:rPr lang="en-US" sz="14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near the diagonal mean accurate prediction (R² 0.66). The bars rank the inputs — month (season) and gust rank above the instantaneous wind speed.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RESULT (2/2) — WHAT THE MODEL SUGGESTS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height follows the seasons and storms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5" name="Image 0" descr="/sessions/nice-funny-rubin/mnt/0709/figures/ww_03_partial_depen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331720"/>
            <a:ext cx="630936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2578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curves show how the prediction changes with one input at a time (others held fixed).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89520" y="169164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DCEAF7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8638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233172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F5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height is highest in winter and at low pressure — i.e. during storms.</a:t>
            </a:r>
            <a:endParaRPr lang="en-US" sz="1500" dirty="0"/>
          </a:p>
          <a:p>
            <a:pPr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and gust rank above the instantaneous wind speed. Open-ocean waves include swell that travels from distant storms, so wave height is only partly tied to the local wind at that moment.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replace the target (wave height) with fatigue damage computed in OrcaFlex.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this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cable papers: method, configuration, reference models</a:t>
            </a:r>
            <a:endParaRPr lang="en-US" sz="15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predictive model on real California wind-site buoy data</a:t>
            </a:r>
            <a:endParaRPr lang="en-US" sz="15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R² ≈ 0.66; captures the seasonal and storm-driven wave pattern</a:t>
            </a:r>
            <a:endParaRPr lang="en-US" sz="15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ready to reuse on fatigue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21031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7FA8C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OrcaFlex model using the B-3 reference cable</a:t>
            </a:r>
            <a:endParaRPr lang="en-US" sz="15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fatigue dataset with the B-9 method</a:t>
            </a:r>
            <a:endParaRPr lang="en-US" sz="15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same XGBoost workflow on that fatigue data</a:t>
            </a:r>
            <a:endParaRPr lang="en-US" sz="15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Deep-read B-3 and B-4; later move to time-series models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KEY PHYSICS FORMULAS (1/2)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behind the papers — loads &amp; geometry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943600"/>
                <a:gridCol w="128016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explanation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Kt·T + Kc·C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tension T and curvature C into local stress σ via stress factors Kt, Kc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EI · κ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Bending moment M = flexural rigidity EI × curvature 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B-9 · B-3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 = 1 / R ,   MBR = 1 / κmax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Curvature = 1 / bending radius R; MBR is the smallest radius the cable may reach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B-9 · B-4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a·(cosh(x/a) − 1)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Free-hanging catenary shape;  a = F / Q  (horizontal force ÷ wet weight per length)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 = 1 / [a·cosh²(x/a)] ,   F = a·Q = const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Catenary curvature; the horizontal tension stays constant along the 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 T tension · C/κ curvature · σ stress · ε strain · EI bending stiffness · R radius · MBR minimum bending radius · Q wet weight per length.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KEY PHYSICS FORMULAS (2/2)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8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behind the papers — fatigue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943600"/>
                <a:gridCol w="128016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explanation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FA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Rainflow counting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an irregular stress history into (amplitude, number-of-cycles) load cycles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B-9 · B-4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· (Δσ)^m = a      (S-N curve)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armour: cycles-to-failure N vs stress range Δσ (m, a are material constants)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Δε/2 = (σ′f /E)(2N)^b + ε′f (2N)^c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Coffin–Manson strain-life for the copper conductor: elastic + plastic strain terms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Σ (ni / Ni) ≥ 1      (Miner / P-M)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damage = Σ(applied cycles ÷ allowable cycles); reaches 1 at failure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B-9 · B-4 · B-3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 life = Tref / 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41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= a reference period divided by the damage accumulated over that period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58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 N cycles to failure · ni applied cycles · Δσ stress range · Δε strain range · σ′f, ε′f, b, c, m, a material constants · D damage.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Progress — Dynamic Power Cables &amp; XGBoost</dc:title>
  <dc:subject>PptxGenJS Presentation</dc:subject>
  <dc:creator/>
  <cp:lastModifiedBy/>
  <cp:revision>1</cp:revision>
  <dcterms:created xsi:type="dcterms:W3CDTF">2026-07-10T00:12:02Z</dcterms:created>
  <dcterms:modified xsi:type="dcterms:W3CDTF">2026-07-10T00:12:02Z</dcterms:modified>
  <cp:category/>
  <dc:description/>
</cp:coreProperties>
</file>